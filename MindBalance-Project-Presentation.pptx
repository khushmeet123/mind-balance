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303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257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D32"/>
                </a:solidFill>
                <a:latin typeface="Aptos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54864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MindBalance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1975104" cy="283464"/>
          </a:xfrm>
          <a:prstGeom prst="roundRect">
            <a:avLst>
              <a:gd name="adj" fmla="val 12000"/>
            </a:avLst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31036"/>
            <a:ext cx="18470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B7A2"/>
                </a:solidFill>
                <a:latin typeface="Aptos"/>
              </a:rPr>
              <a:t>WORKPLACE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01952"/>
            <a:ext cx="5760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 better workday
starts with one small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7C7BE"/>
                </a:solidFill>
                <a:latin typeface="Aptos"/>
              </a:rPr>
              <a:t>A supportive, privacy-conscious wellness prototype for everyday work stress.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992624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1B7A2"/>
                </a:solidFill>
                <a:latin typeface="Aptos"/>
              </a:rPr>
              <a:t>CAPSTONE PROJECT  |  PRODUCT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046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Personal check-ins. Practical resets. Thoughtful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115568"/>
            <a:ext cx="4828032" cy="4526280"/>
          </a:xfrm>
          <a:prstGeom prst="roundRect">
            <a:avLst>
              <a:gd name="adj" fmla="val 12000"/>
            </a:avLst>
          </a:prstGeom>
          <a:solidFill>
            <a:srgbClr val="FD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3716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C25"/>
                </a:solidFill>
                <a:latin typeface="Aptos"/>
              </a:rPr>
              <a:t>Your well-being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7373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87870"/>
                </a:solidFill>
                <a:latin typeface="Aptos"/>
              </a:rPr>
              <a:t>Small check-ins can build useful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2194560"/>
            <a:ext cx="1929384" cy="1133856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2350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63347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D32"/>
                </a:solidFill>
                <a:latin typeface="Aptos"/>
              </a:rPr>
              <a:t>How are you?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3072384"/>
            <a:ext cx="1097280" cy="82296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97696" y="2194560"/>
            <a:ext cx="1993392" cy="1133856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359152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A MOMENT TO 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6517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C25"/>
                </a:solidFill>
                <a:latin typeface="Aptos"/>
              </a:rPr>
              <a:t>Take a breath.
Make room to focus.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3547872"/>
            <a:ext cx="4114800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373075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C25"/>
                </a:solidFill>
                <a:latin typeface="Aptos"/>
              </a:rPr>
              <a:t>A week, at your 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4361688"/>
            <a:ext cx="155448" cy="347472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05472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4160520"/>
            <a:ext cx="155448" cy="548640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59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4270248"/>
            <a:ext cx="155448" cy="438912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6447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77656" y="3968496"/>
            <a:ext cx="155448" cy="74066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31936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53144" y="4114800"/>
            <a:ext cx="155448" cy="594360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07424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28632" y="3858768"/>
            <a:ext cx="155448" cy="850392"/>
          </a:xfrm>
          <a:prstGeom prst="roundRect">
            <a:avLst>
              <a:gd name="adj" fmla="val 12000"/>
            </a:avLst>
          </a:prstGeom>
          <a:solidFill>
            <a:srgbClr val="245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82911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04120" y="4032504"/>
            <a:ext cx="155448" cy="676656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0" y="4773168"/>
            <a:ext cx="246888" cy="32004"/>
          </a:xfrm>
          <a:prstGeom prst="roundRect">
            <a:avLst>
              <a:gd name="adj" fmla="val 12000"/>
            </a:avLst>
          </a:prstGeom>
          <a:solidFill>
            <a:srgbClr val="E5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528523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870"/>
                </a:solidFill>
                <a:latin typeface="Aptos"/>
              </a:rPr>
              <a:t>Illustrative dashboard - demo data, not measured outcomes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355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C7BE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7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01  / 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Well-being support should fit real workdays.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Many employees need practical support that feels approachable, private, and easy to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057400"/>
            <a:ext cx="347472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28600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86000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534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9077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C25"/>
                </a:solidFill>
                <a:latin typeface="Aptos"/>
              </a:rPr>
              <a:t>Privacy anxiety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447288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People may hesitate to share how they feel if they are unsure who can see personal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057400"/>
            <a:ext cx="347472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0016" y="228600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286000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73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9077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C25"/>
                </a:solidFill>
                <a:latin typeface="Aptos"/>
              </a:rPr>
              <a:t>Support feels fragmented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447288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Wellness advice can be hard to find at the moment stress or fatigue shows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57400"/>
            <a:ext cx="347472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22208" y="228600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E9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286000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E9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0779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C25"/>
                </a:solidFill>
                <a:latin typeface="Aptos"/>
              </a:rPr>
              <a:t>One-size-fits-all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47288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Static resources rarely help people turn a small insight into a useful next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800600"/>
            <a:ext cx="10844784" cy="822960"/>
          </a:xfrm>
          <a:prstGeom prst="roundRect">
            <a:avLst>
              <a:gd name="adj" fmla="val 12000"/>
            </a:avLst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92624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The design opportunity: make everyday support personal, practical, and privacy-conscious.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B7A2"/>
                </a:solidFill>
                <a:latin typeface="Aptos"/>
              </a:rPr>
              <a:t>02  / 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A personal wellness companion - not a clinical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7C7BE"/>
                </a:solidFill>
                <a:latin typeface="Aptos"/>
              </a:rPr>
              <a:t>MindBalance turns a quick reflection into a practical next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49424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" y="2505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50545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20954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630168"/>
            <a:ext cx="2816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Check in with mood, energy, or perceived stress.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3017520"/>
            <a:ext cx="246888" cy="329184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249424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505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0545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20954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630168"/>
            <a:ext cx="2816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Choose a short breathing, focus, or reflection activity.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017520"/>
            <a:ext cx="246888" cy="329184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2249424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22792" y="2505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250545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20954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REFLECT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630168"/>
            <a:ext cx="2816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Use personal patterns to make the next small choice.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01184"/>
            <a:ext cx="103327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7C7BE"/>
                </a:solidFill>
                <a:latin typeface="Aptos"/>
              </a:rPr>
              <a:t>The employee experience stays at the center; organizational insights are a privacy-first design goal, not an individual performance measure.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355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C7BE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7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03  /  EMPLOYEE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One simple loop, from check-in to reset.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A guided path keeps the experience lightweight and action-oriented.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2496312" cy="2478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5059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D3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08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CHECK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66160"/>
            <a:ext cx="2084831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Log a daily mood, energy, or stress snapshot.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297680"/>
            <a:ext cx="2029968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31139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A quick personal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3182112"/>
            <a:ext cx="201168" cy="365760"/>
          </a:xfrm>
          <a:prstGeom prst="rect">
            <a:avLst/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2212848"/>
            <a:ext cx="2496312" cy="2478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45059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7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08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SEE A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66160"/>
            <a:ext cx="2084831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Review a simple trend or self-assessment.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297680"/>
            <a:ext cx="2029968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431139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Reflection, not diagnosis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182112"/>
            <a:ext cx="201168" cy="365760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2212848"/>
            <a:ext cx="2496312" cy="2478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245059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73D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108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CHOOSE A RESET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566160"/>
            <a:ext cx="2084831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Try breathwork, a focus break, or a calming activity.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1112" y="4297680"/>
            <a:ext cx="2029968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31139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Small actions, on demand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8552" y="3182112"/>
            <a:ext cx="201168" cy="365760"/>
          </a:xfrm>
          <a:prstGeom prst="rect">
            <a:avLst/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2016" y="2212848"/>
            <a:ext cx="2496312" cy="2478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3184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3184" y="245059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D32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10896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KEEP WHAT HELPS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3566160"/>
            <a:ext cx="2084831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Return to a useful habit and notice how it feels.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73184" y="4297680"/>
            <a:ext cx="2029968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2" y="431139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Build a routine over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148072"/>
            <a:ext cx="10954512" cy="502920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5266944"/>
            <a:ext cx="10515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No streak pressure. No diagnosis. The goal is a useful next step that works for the individual.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04  /  THE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A calm dashboard with practical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The prototype brings everyday well-being features into one employee-facing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011680"/>
            <a:ext cx="5230368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534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22199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Mood &amp; stress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633472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Capture a quick daily reflection and log perceived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9616" y="3163824"/>
            <a:ext cx="1234440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3177540"/>
            <a:ext cx="110642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CHECK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011680"/>
            <a:ext cx="5230368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2402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773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22199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PSS-4 self-assessment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633472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Explore a short perceived-stress questionnaire with a non-clinical interpretation.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1736" y="3163824"/>
            <a:ext cx="1234440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3177540"/>
            <a:ext cx="110642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REFLECT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712464"/>
            <a:ext cx="5230368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94106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9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4106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E9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922776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Mind Relief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33425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Box breathing, 4-7-8 breathing, a focus timer, ambient sound, and a memory activity.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99616" y="4864608"/>
            <a:ext cx="1234440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63624" y="4878324"/>
            <a:ext cx="110642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RESET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3712464"/>
            <a:ext cx="5230368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94106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5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4106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6E57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3922776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Goals &amp;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433425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See sample trends, habit goals, activity, and next-step suggestions.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31736" y="4864608"/>
            <a:ext cx="1234440" cy="283464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4878324"/>
            <a:ext cx="110642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BUILD HABITS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418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87870"/>
                </a:solidFill>
                <a:latin typeface="Aptos"/>
              </a:rPr>
              <a:t>Current dashboard views and trend data are presented as a local prototype.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05  /  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A clear separation between interface, API, and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The intended full-stack design uses familiar web technologies and modular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318211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59152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72868"/>
            <a:ext cx="13807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01 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Next.js  /  React  / 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Employee dashboard, check-ins,
wellness tools,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18211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59152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372868"/>
            <a:ext cx="13807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773D"/>
                </a:solidFill>
                <a:latin typeface="Aptos"/>
              </a:rPr>
              <a:t>02 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6207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Express  / 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4670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REST API scaffold; current
health-check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148840"/>
            <a:ext cx="318211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359152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E9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372868"/>
            <a:ext cx="13807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07E90"/>
                </a:solidFill>
                <a:latin typeface="Aptos"/>
              </a:rPr>
              <a:t>03 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6207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C25"/>
                </a:solidFill>
                <a:latin typeface="Aptos"/>
              </a:rPr>
              <a:t>Firebase / Firestore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4670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870"/>
                </a:solidFill>
                <a:latin typeface="Aptos"/>
              </a:rPr>
              <a:t>Connection scaffold exists;
not configured in this local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2871216"/>
            <a:ext cx="256032" cy="329184"/>
          </a:xfrm>
          <a:prstGeom prst="rect">
            <a:avLst/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9248" y="2871216"/>
            <a:ext cx="256032" cy="329184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407408"/>
            <a:ext cx="10716768" cy="868680"/>
          </a:xfrm>
          <a:prstGeom prst="roundRect">
            <a:avLst>
              <a:gd name="adj" fmla="val 12000"/>
            </a:avLst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590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1B7A2"/>
                </a:solidFill>
                <a:latin typeface="Aptos"/>
              </a:rPr>
              <a:t>WHAT RUNS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4544568"/>
            <a:ext cx="81838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Client-side prototype + sample data | Express health API | database not 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5961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87870"/>
                </a:solidFill>
                <a:latin typeface="Aptos"/>
              </a:rPr>
              <a:t>The prototype is not yet a production-connected or authenticated employee system.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06  /  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Privacy and safety are requirements - not a finished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This is a non-clinical support concept. Production readiness needs additional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956816"/>
            <a:ext cx="521208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" y="22037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203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343"/>
                </a:solidFill>
                <a:latin typeface="Aptos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21284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2C25"/>
                </a:solidFill>
                <a:latin typeface="Aptos"/>
              </a:rPr>
              <a:t>In the current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92608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434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Non-clinical language and self-reflection framing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60273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529584"/>
            <a:ext cx="43434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A client-side keyword check can open a crisis-support modal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2793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06240"/>
            <a:ext cx="43434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870"/>
                </a:solidFill>
                <a:latin typeface="Aptos"/>
              </a:rPr>
              <a:t>Local sample data is explicitly identified in the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96519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86E57"/>
                </a:solidFill>
                <a:latin typeface="Aptos"/>
              </a:rPr>
              <a:t>Prototype behavior only - not clinically validated.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956816"/>
            <a:ext cx="5212080" cy="3355848"/>
          </a:xfrm>
          <a:prstGeom prst="roundRect">
            <a:avLst>
              <a:gd name="adj" fmla="val 12000"/>
            </a:avLst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8" y="22037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203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D32"/>
                </a:solidFill>
                <a:latin typeface="Aptos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2128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Before real-world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2608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2852928"/>
            <a:ext cx="4334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Implement authentication, access controls, and secure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0273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3529584"/>
            <a:ext cx="4334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Validate crisis pathways and content with qualified reviewers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2793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4206240"/>
            <a:ext cx="4334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7C7BE"/>
                </a:solidFill>
                <a:latin typeface="Aptos"/>
              </a:rPr>
              <a:t>Test privacy-preserving team aggregates (design target: k &gt;= 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623560"/>
            <a:ext cx="10561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D32"/>
                </a:solidFill>
                <a:latin typeface="Aptos"/>
              </a:rPr>
              <a:t>Individual well-being data should never become an individual performance score.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07  /  PROTOTYPE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A usable demonstration - with honest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The front end is demonstrable today; production integrations remain on the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965960"/>
            <a:ext cx="5230368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203704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17420"/>
            <a:ext cx="13807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DEMO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79806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24912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Interactive dashboard, check-in, and stress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2644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91256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Trend visuals, goals, and wellness recommendations using sample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73075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Working breathing exercises, timer, ambient sound, and memory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1970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23944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PSS-4 questionnaire and a simulated reflection-assistant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6344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90288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Express API health endpoint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965960"/>
            <a:ext cx="5230368" cy="3429000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2203704"/>
            <a:ext cx="2066543" cy="283464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217420"/>
            <a:ext cx="193852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773D"/>
                </a:solidFill>
                <a:latin typeface="Aptos"/>
              </a:rPr>
              <a:t>NEXT BUILD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79806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724912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Connect user accounts and role-based permissions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644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191256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Persist personal check-ins securely through the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73075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657600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Replace simulated assistant replies with reviewed, safe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1970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123944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Implement and verify privacy-preserving organizational aggregates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66344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590288"/>
            <a:ext cx="4407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2C25"/>
                </a:solidFill>
                <a:latin typeface="Aptos"/>
              </a:rPr>
              <a:t>Add integration, accessibility, and end-to-end testing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" y="5669280"/>
            <a:ext cx="10533888" cy="384048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15000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76638"/>
                </a:solidFill>
                <a:latin typeface="Aptos"/>
              </a:rPr>
              <a:t>Assistant responses and trend charts are illustrative prototype behavior - not a live AI or a measured study.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08  /  EVALUATION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C25"/>
                </a:solidFill>
                <a:latin typeface="Aptos"/>
              </a:rPr>
              <a:t>Build trust first. Measure usefulness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870"/>
                </a:solidFill>
                <a:latin typeface="Aptos"/>
              </a:rPr>
              <a:t>A responsible path from class-project demo to an evaluated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2057400"/>
            <a:ext cx="2487168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267712"/>
            <a:ext cx="530352" cy="283464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281428"/>
            <a:ext cx="40233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79776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D32"/>
                </a:solidFill>
                <a:latin typeface="Aptos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72968"/>
            <a:ext cx="20665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87870"/>
                </a:solidFill>
                <a:latin typeface="Aptos"/>
              </a:rPr>
              <a:t>Authentication, API integration, and secure personal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057400"/>
            <a:ext cx="2487168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9896" y="2267712"/>
            <a:ext cx="530352" cy="283464"/>
          </a:xfrm>
          <a:prstGeom prst="roundRect">
            <a:avLst>
              <a:gd name="adj" fmla="val 12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281428"/>
            <a:ext cx="40233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34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779776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D32"/>
                </a:solidFill>
                <a:latin typeface="Aptos"/>
              </a:rPr>
              <a:t>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172968"/>
            <a:ext cx="20665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87870"/>
                </a:solidFill>
                <a:latin typeface="Aptos"/>
              </a:rPr>
              <a:t>Test privacy boundaries, aggregation thresholds, and safety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057400"/>
            <a:ext cx="2487168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92824" y="2267712"/>
            <a:ext cx="530352" cy="283464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281428"/>
            <a:ext cx="40233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773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779776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D32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172968"/>
            <a:ext cx="20665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87870"/>
                </a:solidFill>
                <a:latin typeface="Aptos"/>
              </a:rPr>
              <a:t>Pilot usability and accessibility with informed participants.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2872" y="2057400"/>
            <a:ext cx="2487168" cy="1655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45751" y="2267712"/>
            <a:ext cx="530352" cy="283464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9" y="2281428"/>
            <a:ext cx="40233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773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1" y="2779776"/>
            <a:ext cx="20848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D32"/>
                </a:solidFill>
                <a:latin typeface="Aptos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1" y="3172968"/>
            <a:ext cx="20665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87870"/>
                </a:solidFill>
                <a:latin typeface="Aptos"/>
              </a:rPr>
              <a:t>Use feedback to refine tools and guidance before wider rollout.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60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C25"/>
                </a:solidFill>
                <a:latin typeface="Aptos"/>
              </a:rPr>
              <a:t>Evaluation signals to consider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90288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7548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01091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2C25"/>
                </a:solidFill>
                <a:latin typeface="Aptos"/>
              </a:rPr>
              <a:t>Return use &amp; tool completion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4" y="4590288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47548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773D"/>
                </a:solidFill>
                <a:latin typeface="Aptos"/>
              </a:rPr>
              <a:t>USEFULNESS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501091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2C25"/>
                </a:solidFill>
                <a:latin typeface="Aptos"/>
              </a:rPr>
              <a:t>Participant-rated helpfulness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590288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47548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343"/>
                </a:solidFill>
                <a:latin typeface="Aptos"/>
              </a:rPr>
              <a:t>ACCESSIBILITY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4536" y="501091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2C25"/>
                </a:solidFill>
                <a:latin typeface="Aptos"/>
              </a:rPr>
              <a:t>Task completion &amp; feedback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2872" y="4590288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F8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7548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773D"/>
                </a:solidFill>
                <a:latin typeface="Aptos"/>
              </a:rPr>
              <a:t>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01091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2C25"/>
                </a:solidFill>
                <a:latin typeface="Aptos"/>
              </a:rPr>
              <a:t>Privacy comprehension &amp;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5797296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87870"/>
                </a:solidFill>
                <a:latin typeface="Aptos"/>
              </a:rPr>
              <a:t>No study results or health outcomes are claimed in this prototype presentation.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E5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87870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878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65836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D32"/>
                </a:solidFill>
                <a:latin typeface="Aptos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713232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MindBalance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1700784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4500"/>
            <a:ext cx="13807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B7A2"/>
                </a:solidFill>
                <a:latin typeface="Aptos"/>
              </a:rPr>
              <a:t>THE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7726679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 healthier workday
can start with one small reset.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050791"/>
            <a:ext cx="6995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7C7BE"/>
                </a:solidFill>
                <a:latin typeface="Aptos"/>
              </a:rPr>
              <a:t>MindBalance pairs personal reflection with practical wellness tools - while putting trust and privacy at the center of the design.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5230368"/>
            <a:ext cx="6309360" cy="0"/>
          </a:xfrm>
          <a:prstGeom prst="line">
            <a:avLst/>
          </a:prstGeom>
          <a:ln w="12700">
            <a:solidFill>
              <a:srgbClr val="355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" y="5449824"/>
            <a:ext cx="62179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1B7A2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843016"/>
            <a:ext cx="6492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2057400"/>
            <a:ext cx="1353312" cy="1353312"/>
          </a:xfrm>
          <a:prstGeom prst="ellipse">
            <a:avLst/>
          </a:prstGeom>
          <a:solidFill>
            <a:srgbClr val="91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54312" y="2999232"/>
            <a:ext cx="987552" cy="987552"/>
          </a:xfrm>
          <a:prstGeom prst="ellipse">
            <a:avLst/>
          </a:prstGeom>
          <a:solidFill>
            <a:srgbClr val="E8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19872" y="3803904"/>
            <a:ext cx="731520" cy="731520"/>
          </a:xfrm>
          <a:prstGeom prst="ellipse">
            <a:avLst/>
          </a:prstGeom>
          <a:solidFill>
            <a:srgbClr val="355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5230368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C7BE"/>
                </a:solidFill>
                <a:latin typeface="Aptos"/>
              </a:rPr>
              <a:t>Notice  /  Reset  /  Reflect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355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5105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C7BE"/>
                </a:solidFill>
                <a:latin typeface="Aptos"/>
              </a:rPr>
              <a:t>MINDBALANCE  /  PROJECT SHOWCASE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C7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MindBalance - Workplace Well-being Project Presentation</dc:title>
  <dc:subject>Project showcase of the MindBalance workforce well-being prototype</dc:subject>
  <dc:creator>MindBalance Project Team</dc:creator>
  <cp:keywords>MindBalance, workplace well-being, capstone, prototype</cp:keywords>
  <dc:description>Capabilities and implementation status are described as observed in the project prototype.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